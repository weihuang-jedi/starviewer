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4" r:id="rId1"/>
  </p:sldMasterIdLst>
  <p:notesMasterIdLst>
    <p:notesMasterId r:id="rId6"/>
  </p:notesMasterIdLst>
  <p:handoutMasterIdLst>
    <p:handoutMasterId r:id="rId7"/>
  </p:handoutMasterIdLst>
  <p:sldIdLst>
    <p:sldId id="256" r:id="rId2"/>
    <p:sldId id="296" r:id="rId3"/>
    <p:sldId id="297" r:id="rId4"/>
    <p:sldId id="298" r:id="rId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prnWhat="handouts2" frameSlides="1"/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7" d="100"/>
          <a:sy n="107" d="100"/>
        </p:scale>
        <p:origin x="-608" y="-10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handoutMaster" Target="handoutMasters/handoutMaster1.xml"/><Relationship Id="rId8" Type="http://schemas.openxmlformats.org/officeDocument/2006/relationships/printerSettings" Target="printerSettings/printerSettings1.bin"/><Relationship Id="rId9" Type="http://schemas.openxmlformats.org/officeDocument/2006/relationships/presProps" Target="presProps.xml"/><Relationship Id="rId10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F67188-7D83-5C41-A14B-C18BD8993CAB}" type="datetimeFigureOut">
              <a:rPr lang="en-US" smtClean="0"/>
              <a:t>10/26/13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086537-5D19-614D-B552-F07AD21E3C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470471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8A0533-9053-E846-ABB5-760369FB6211}" type="datetimeFigureOut">
              <a:rPr lang="en-US" smtClean="0"/>
              <a:t>10/26/13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DA6D7BB-3E10-5045-871C-DFEC23D7AD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09620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328166" y="1295400"/>
            <a:ext cx="6487668" cy="3152887"/>
          </a:xfrm>
          <a:prstGeom prst="rect">
            <a:avLst/>
          </a:prstGeom>
          <a:ln w="3175">
            <a:solidFill>
              <a:schemeClr val="bg1"/>
            </a:solidFill>
          </a:ln>
          <a:effectLst>
            <a:outerShdw blurRad="63500" sx="100500" sy="100500" algn="ctr" rotWithShape="0">
              <a:prstClr val="black">
                <a:alpha val="50000"/>
              </a:prstClr>
            </a:outerShdw>
          </a:effectLst>
        </p:spPr>
        <p:txBody>
          <a:bodyPr vert="horz" lIns="91440" tIns="45720" rIns="91440" bIns="45720" rtlCol="0">
            <a:normAutofit/>
          </a:bodyPr>
          <a:lstStyle/>
          <a:p>
            <a:pPr marL="0" indent="0" algn="l" defTabSz="914400" rtl="0" eaLnBrk="1" latinLnBrk="0" hangingPunct="1">
              <a:spcBef>
                <a:spcPts val="2000"/>
              </a:spcBef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itchFamily="18" charset="2"/>
              <a:buNone/>
            </a:pPr>
            <a:endParaRPr sz="3200" kern="120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22921" y="1523999"/>
            <a:ext cx="6498158" cy="1724867"/>
          </a:xfrm>
        </p:spPr>
        <p:txBody>
          <a:bodyPr vert="horz" lIns="91440" tIns="45720" rIns="91440" bIns="45720" rtlCol="0" anchor="b" anchorCtr="0">
            <a:noAutofit/>
          </a:bodyPr>
          <a:lstStyle>
            <a:lvl1pPr marL="0" indent="0" algn="ctr" defTabSz="914400" rtl="0" eaLnBrk="1" latinLnBrk="0" hangingPunct="1">
              <a:spcBef>
                <a:spcPct val="0"/>
              </a:spcBef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itchFamily="18" charset="2"/>
              <a:buNone/>
              <a:defRPr sz="6000" kern="1200">
                <a:solidFill>
                  <a:srgbClr val="000090"/>
                </a:solidFill>
                <a:latin typeface="Edwardian Script ITC"/>
                <a:ea typeface="+mj-ea"/>
                <a:cs typeface="+mj-cs"/>
              </a:defRPr>
            </a:lvl1pPr>
          </a:lstStyle>
          <a:p>
            <a:r>
              <a:rPr lang="en-US" dirty="0" smtClean="0"/>
              <a:t>Click to edit Master title style</a:t>
            </a: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22921" y="3299012"/>
            <a:ext cx="6498159" cy="916641"/>
          </a:xfr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ts val="300"/>
              </a:spcBef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itchFamily="18" charset="2"/>
              <a:buNone/>
              <a:defRPr sz="4800" b="1" i="0" kern="1200">
                <a:solidFill>
                  <a:srgbClr val="0000FF"/>
                </a:solidFill>
                <a:latin typeface="Arial Black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smtClean="0"/>
              <a:t>Click to edit Master subtitle style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574902-1B35-1048-B6B6-FD3ED25F64E7}" type="datetimeFigureOut">
              <a:rPr lang="en-US" smtClean="0"/>
              <a:t>10/26/13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3200" b="1" i="0">
                <a:solidFill>
                  <a:srgbClr val="3366FF"/>
                </a:solidFill>
                <a:latin typeface="Brush Script MT"/>
              </a:defRPr>
            </a:lvl1pPr>
          </a:lstStyle>
          <a:p>
            <a:r>
              <a:rPr lang="en-US" dirty="0" smtClean="0"/>
              <a:t>NV –for CAM-SE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3E21A9-023E-9E4B-AE5E-42146A47FA7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574902-1B35-1048-B6B6-FD3ED25F64E7}" type="datetimeFigureOut">
              <a:rPr lang="en-US" smtClean="0"/>
              <a:t>10/26/13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3E21A9-023E-9E4B-AE5E-42146A47FA7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63538" y="3352801"/>
            <a:ext cx="8416925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63538" y="4771029"/>
            <a:ext cx="8416925" cy="972671"/>
          </a:xfrm>
        </p:spPr>
        <p:txBody>
          <a:bodyPr>
            <a:normAutofit/>
          </a:bodyPr>
          <a:lstStyle>
            <a:lvl1pPr marL="0" indent="0" algn="ctr">
              <a:spcBef>
                <a:spcPts val="300"/>
              </a:spcBef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574902-1B35-1048-B6B6-FD3ED25F64E7}" type="datetimeFigureOut">
              <a:rPr lang="en-US" smtClean="0"/>
              <a:t>10/26/13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NV – for CAM-SE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3E21A9-023E-9E4B-AE5E-42146A47FA77}" type="slidenum">
              <a:rPr lang="en-US" smtClean="0"/>
              <a:t>‹#›</a:t>
            </a:fld>
            <a:endParaRPr lang="en-US"/>
          </a:p>
        </p:txBody>
      </p:sp>
      <p:sp>
        <p:nvSpPr>
          <p:cNvPr id="9" name="Picture Placeholder 2"/>
          <p:cNvSpPr>
            <a:spLocks noGrp="1"/>
          </p:cNvSpPr>
          <p:nvPr>
            <p:ph type="pic" idx="13"/>
          </p:nvPr>
        </p:nvSpPr>
        <p:spPr>
          <a:xfrm>
            <a:off x="370980" y="363538"/>
            <a:ext cx="8402040" cy="2836862"/>
          </a:xfrm>
          <a:ln w="3175">
            <a:solidFill>
              <a:schemeClr val="bg1"/>
            </a:solidFill>
          </a:ln>
          <a:effectLst>
            <a:outerShdw blurRad="63500" sx="100500" sy="100500" algn="ctr" rotWithShape="0">
              <a:prstClr val="black">
                <a:alpha val="50000"/>
              </a:prstClr>
            </a:outerShdw>
          </a:effectLst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Drag picture to placeholder or click icon to add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9275" y="2403144"/>
            <a:ext cx="8056563" cy="1362075"/>
          </a:xfrm>
        </p:spPr>
        <p:txBody>
          <a:bodyPr anchor="b" anchorCtr="0"/>
          <a:lstStyle>
            <a:lvl1pPr algn="ctr">
              <a:defRPr sz="4600" b="0" cap="none" baseline="0"/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9275" y="3736005"/>
            <a:ext cx="8056563" cy="1500187"/>
          </a:xfrm>
        </p:spPr>
        <p:txBody>
          <a:bodyPr anchor="t" anchorCtr="0">
            <a:normAutofit/>
          </a:bodyPr>
          <a:lstStyle>
            <a:lvl1pPr marL="0" indent="0" algn="ctr">
              <a:spcBef>
                <a:spcPts val="300"/>
              </a:spcBef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574902-1B35-1048-B6B6-FD3ED25F64E7}" type="datetimeFigureOut">
              <a:rPr lang="en-US" smtClean="0"/>
              <a:t>10/26/13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3E21A9-023E-9E4B-AE5E-42146A47FA7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9275" y="107576"/>
            <a:ext cx="8042276" cy="1336956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9275" y="1600201"/>
            <a:ext cx="3840480" cy="4343400"/>
          </a:xfrm>
        </p:spPr>
        <p:txBody>
          <a:bodyPr>
            <a:normAutofit/>
          </a:bodyPr>
          <a:lstStyle>
            <a:lvl1pPr>
              <a:spcBef>
                <a:spcPts val="1600"/>
              </a:spcBef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51071" y="1600201"/>
            <a:ext cx="3840480" cy="4343400"/>
          </a:xfrm>
        </p:spPr>
        <p:txBody>
          <a:bodyPr>
            <a:normAutofit/>
          </a:bodyPr>
          <a:lstStyle>
            <a:lvl1pPr>
              <a:spcBef>
                <a:spcPts val="1600"/>
              </a:spcBef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574902-1B35-1048-B6B6-FD3ED25F64E7}" type="datetimeFigureOut">
              <a:rPr lang="en-US" smtClean="0"/>
              <a:t>10/26/13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3E21A9-023E-9E4B-AE5E-42146A47FA7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9274" y="107576"/>
            <a:ext cx="8042276" cy="1336956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9274" y="1453224"/>
            <a:ext cx="3840480" cy="750887"/>
          </a:xfrm>
        </p:spPr>
        <p:txBody>
          <a:bodyPr anchor="b">
            <a:noAutofit/>
          </a:bodyPr>
          <a:lstStyle>
            <a:lvl1pPr marL="0" indent="0" algn="ctr">
              <a:spcBef>
                <a:spcPts val="0"/>
              </a:spcBef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49274" y="2347415"/>
            <a:ext cx="3840480" cy="3596185"/>
          </a:xfrm>
        </p:spPr>
        <p:txBody>
          <a:bodyPr>
            <a:normAutofit/>
          </a:bodyPr>
          <a:lstStyle>
            <a:lvl1pPr>
              <a:spcBef>
                <a:spcPts val="1600"/>
              </a:spcBef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1070" y="1453224"/>
            <a:ext cx="3840480" cy="750887"/>
          </a:xfrm>
        </p:spPr>
        <p:txBody>
          <a:bodyPr anchor="b">
            <a:noAutofit/>
          </a:bodyPr>
          <a:lstStyle>
            <a:lvl1pPr marL="0" indent="0" algn="ctr">
              <a:spcBef>
                <a:spcPts val="0"/>
              </a:spcBef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1070" y="2347415"/>
            <a:ext cx="3840480" cy="3596185"/>
          </a:xfrm>
        </p:spPr>
        <p:txBody>
          <a:bodyPr>
            <a:normAutofit/>
          </a:bodyPr>
          <a:lstStyle>
            <a:lvl1pPr>
              <a:spcBef>
                <a:spcPts val="1600"/>
              </a:spcBef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574902-1B35-1048-B6B6-FD3ED25F64E7}" type="datetimeFigureOut">
              <a:rPr lang="en-US" smtClean="0"/>
              <a:t>10/26/13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3E21A9-023E-9E4B-AE5E-42146A47FA7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574902-1B35-1048-B6B6-FD3ED25F64E7}" type="datetimeFigureOut">
              <a:rPr lang="en-US" smtClean="0"/>
              <a:t>10/26/13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3E21A9-023E-9E4B-AE5E-42146A47FA7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574902-1B35-1048-B6B6-FD3ED25F64E7}" type="datetimeFigureOut">
              <a:rPr lang="en-US" smtClean="0"/>
              <a:t>10/26/13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600">
                <a:solidFill>
                  <a:srgbClr val="0000FF"/>
                </a:solidFill>
                <a:latin typeface="Brush Script MT"/>
              </a:defRPr>
            </a:lvl1pPr>
          </a:lstStyle>
          <a:p>
            <a:r>
              <a:rPr lang="en-US" dirty="0" smtClean="0"/>
              <a:t>NV –for CAM-SE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3E21A9-023E-9E4B-AE5E-42146A47FA77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399" y="611872"/>
            <a:ext cx="3840480" cy="1162050"/>
          </a:xfrm>
        </p:spPr>
        <p:txBody>
          <a:bodyPr anchor="b"/>
          <a:lstStyle>
            <a:lvl1pPr algn="ctr">
              <a:defRPr sz="3600" b="0"/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42824" y="368300"/>
            <a:ext cx="3840480" cy="5575300"/>
          </a:xfrm>
        </p:spPr>
        <p:txBody>
          <a:bodyPr>
            <a:normAutofit/>
          </a:bodyPr>
          <a:lstStyle>
            <a:lvl1pPr>
              <a:spcBef>
                <a:spcPts val="2000"/>
              </a:spcBef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3399" y="1787856"/>
            <a:ext cx="3840480" cy="3720152"/>
          </a:xfrm>
        </p:spPr>
        <p:txBody>
          <a:bodyPr>
            <a:normAutofit/>
          </a:bodyPr>
          <a:lstStyle>
            <a:lvl1pPr marL="0" indent="0" algn="ctr">
              <a:spcBef>
                <a:spcPts val="60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574902-1B35-1048-B6B6-FD3ED25F64E7}" type="datetimeFigureOut">
              <a:rPr lang="en-US" smtClean="0"/>
              <a:t>10/26/13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3E21A9-023E-9E4B-AE5E-42146A47FA7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398" y="611872"/>
            <a:ext cx="4079545" cy="1162050"/>
          </a:xfrm>
        </p:spPr>
        <p:txBody>
          <a:bodyPr anchor="b"/>
          <a:lstStyle>
            <a:lvl1pPr algn="ctr">
              <a:defRPr sz="3600" b="0"/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3398" y="1787856"/>
            <a:ext cx="4079545" cy="3720152"/>
          </a:xfrm>
        </p:spPr>
        <p:txBody>
          <a:bodyPr>
            <a:normAutofit/>
          </a:bodyPr>
          <a:lstStyle>
            <a:lvl1pPr marL="0" indent="0" algn="ctr">
              <a:spcBef>
                <a:spcPts val="60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574902-1B35-1048-B6B6-FD3ED25F64E7}" type="datetimeFigureOut">
              <a:rPr lang="en-US" smtClean="0"/>
              <a:t>10/26/13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3E21A9-023E-9E4B-AE5E-42146A47FA77}" type="slidenum">
              <a:rPr lang="en-US" smtClean="0"/>
              <a:t>‹#›</a:t>
            </a:fld>
            <a:endParaRPr lang="en-US"/>
          </a:p>
        </p:txBody>
      </p:sp>
      <p:sp>
        <p:nvSpPr>
          <p:cNvPr id="8" name="Picture Placeholder 2"/>
          <p:cNvSpPr>
            <a:spLocks noGrp="1"/>
          </p:cNvSpPr>
          <p:nvPr>
            <p:ph type="pic" idx="1"/>
          </p:nvPr>
        </p:nvSpPr>
        <p:spPr>
          <a:xfrm>
            <a:off x="5090617" y="359392"/>
            <a:ext cx="3657600" cy="5318077"/>
          </a:xfrm>
          <a:ln w="3175">
            <a:solidFill>
              <a:schemeClr val="bg1"/>
            </a:solidFill>
          </a:ln>
          <a:effectLst>
            <a:outerShdw blurRad="63500" sx="100500" sy="100500" algn="ctr" rotWithShape="0">
              <a:prstClr val="black">
                <a:alpha val="50000"/>
              </a:prstClr>
            </a:outerShdw>
          </a:effectLst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spcBef>
                <a:spcPts val="2000"/>
              </a:spcBef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itchFamily="18" charset="2"/>
              <a:buNone/>
              <a:defRPr sz="32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Drag picture to placeholder or click icon to add</a:t>
            </a: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5pPr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574902-1B35-1048-B6B6-FD3ED25F64E7}" type="datetimeFigureOut">
              <a:rPr lang="en-US" smtClean="0"/>
              <a:t>10/26/13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3E21A9-023E-9E4B-AE5E-42146A47FA7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69792" y="368301"/>
            <a:ext cx="1524000" cy="55753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49274" y="368301"/>
            <a:ext cx="6689726" cy="5575300"/>
          </a:xfrm>
        </p:spPr>
        <p:txBody>
          <a:bodyPr vert="eaVert"/>
          <a:lstStyle>
            <a:lvl5pPr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574902-1B35-1048-B6B6-FD3ED25F64E7}" type="datetimeFigureOut">
              <a:rPr lang="en-US" smtClean="0"/>
              <a:t>10/26/13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3E21A9-023E-9E4B-AE5E-42146A47FA7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Relationship Id="rId14" Type="http://schemas.openxmlformats.org/officeDocument/2006/relationships/image" Target="../media/image2.png"/><Relationship Id="rId15" Type="http://schemas.openxmlformats.org/officeDocument/2006/relationships/image" Target="../media/image3.jpe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49275" y="107576"/>
            <a:ext cx="8042276" cy="1336956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n-US" dirty="0" smtClean="0"/>
              <a:t>Click to edit Master title style</a:t>
            </a:r>
            <a:endParaRPr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9275" y="1600201"/>
            <a:ext cx="8042276" cy="4343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629835" y="6275668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AC574902-1B35-1048-B6B6-FD3ED25F64E7}" type="datetimeFigureOut">
              <a:rPr lang="en-US" smtClean="0"/>
              <a:t>10/26/13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64458" y="6275668"/>
            <a:ext cx="484094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NV – for CAM-SE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97906" y="6275668"/>
            <a:ext cx="990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600">
                <a:solidFill>
                  <a:schemeClr val="bg1"/>
                </a:solidFill>
              </a:defRPr>
            </a:lvl1pPr>
          </a:lstStyle>
          <a:p>
            <a:fld id="{763E21A9-023E-9E4B-AE5E-42146A47FA77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2"/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08531" y="0"/>
            <a:ext cx="1235469" cy="8931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3" descr="NCAR_logo_hires.jpg"/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12179"/>
            <a:ext cx="1144952" cy="8809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  <p:sldLayoutId id="2147483696" r:id="rId2"/>
    <p:sldLayoutId id="2147483697" r:id="rId3"/>
    <p:sldLayoutId id="2147483698" r:id="rId4"/>
    <p:sldLayoutId id="2147483699" r:id="rId5"/>
    <p:sldLayoutId id="2147483700" r:id="rId6"/>
    <p:sldLayoutId id="2147483701" r:id="rId7"/>
    <p:sldLayoutId id="2147483702" r:id="rId8"/>
    <p:sldLayoutId id="2147483703" r:id="rId9"/>
    <p:sldLayoutId id="2147483704" r:id="rId10"/>
    <p:sldLayoutId id="2147483705" r:id="rId11"/>
    <p:sldLayoutId id="2147483706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800" b="1" i="0" kern="1200">
          <a:solidFill>
            <a:srgbClr val="000090"/>
          </a:solidFill>
          <a:latin typeface="Arial Rounded MT Bold"/>
          <a:ea typeface="+mj-ea"/>
          <a:cs typeface="+mj-cs"/>
        </a:defRPr>
      </a:lvl1pPr>
    </p:titleStyle>
    <p:bodyStyle>
      <a:lvl1pPr marL="349250" indent="-349250" algn="l" defTabSz="914400" rtl="0" eaLnBrk="1" latinLnBrk="0" hangingPunct="1">
        <a:spcBef>
          <a:spcPts val="2000"/>
        </a:spcBef>
        <a:buClr>
          <a:schemeClr val="accent1">
            <a:lumMod val="60000"/>
            <a:lumOff val="40000"/>
          </a:schemeClr>
        </a:buClr>
        <a:buSzPct val="110000"/>
        <a:buFont typeface="Wingdings 2" pitchFamily="18" charset="2"/>
        <a:buChar char=""/>
        <a:defRPr sz="4000" kern="1200">
          <a:solidFill>
            <a:srgbClr val="0000FF"/>
          </a:solidFill>
          <a:latin typeface="Apple Casual"/>
          <a:ea typeface="+mn-ea"/>
          <a:cs typeface="+mn-cs"/>
        </a:defRPr>
      </a:lvl1pPr>
      <a:lvl2pPr marL="685800" indent="-336550" algn="l" defTabSz="914400" rtl="0" eaLnBrk="1" latinLnBrk="0" hangingPunct="1">
        <a:spcBef>
          <a:spcPts val="600"/>
        </a:spcBef>
        <a:buClr>
          <a:schemeClr val="accent1">
            <a:lumMod val="75000"/>
          </a:schemeClr>
        </a:buClr>
        <a:buSzPct val="110000"/>
        <a:buFont typeface="Wingdings 2" pitchFamily="18" charset="2"/>
        <a:buChar char=""/>
        <a:defRPr sz="3600" kern="1200">
          <a:solidFill>
            <a:srgbClr val="000090"/>
          </a:solidFill>
          <a:latin typeface="Arial Rounded MT Bold"/>
          <a:ea typeface="+mn-ea"/>
          <a:cs typeface="+mn-cs"/>
        </a:defRPr>
      </a:lvl2pPr>
      <a:lvl3pPr marL="968375" indent="-282575" algn="l" defTabSz="914400" rtl="0" eaLnBrk="1" latinLnBrk="0" hangingPunct="1">
        <a:spcBef>
          <a:spcPts val="600"/>
        </a:spcBef>
        <a:buClr>
          <a:schemeClr val="accent1">
            <a:lumMod val="60000"/>
            <a:lumOff val="40000"/>
          </a:schemeClr>
        </a:buClr>
        <a:buSzPct val="110000"/>
        <a:buFont typeface="Wingdings 2" pitchFamily="18" charset="2"/>
        <a:buChar char=""/>
        <a:defRPr sz="3200" kern="1200">
          <a:solidFill>
            <a:srgbClr val="660066"/>
          </a:solidFill>
          <a:latin typeface="Avenir Black Oblique"/>
          <a:ea typeface="+mn-ea"/>
          <a:cs typeface="+mn-cs"/>
        </a:defRPr>
      </a:lvl3pPr>
      <a:lvl4pPr marL="1263650" indent="-295275" algn="l" defTabSz="914400" rtl="0" eaLnBrk="1" latinLnBrk="0" hangingPunct="1">
        <a:spcBef>
          <a:spcPts val="600"/>
        </a:spcBef>
        <a:buClr>
          <a:schemeClr val="accent1">
            <a:lumMod val="75000"/>
          </a:schemeClr>
        </a:buClr>
        <a:buSzPct val="110000"/>
        <a:buFont typeface="Wingdings 2" pitchFamily="18" charset="2"/>
        <a:buChar char=""/>
        <a:defRPr sz="3200" kern="1200">
          <a:solidFill>
            <a:srgbClr val="660066"/>
          </a:solidFill>
          <a:latin typeface="Avenir Black Oblique"/>
          <a:ea typeface="+mn-ea"/>
          <a:cs typeface="+mn-cs"/>
        </a:defRPr>
      </a:lvl4pPr>
      <a:lvl5pPr marL="1546225" indent="-282575" algn="l" defTabSz="914400" rtl="0" eaLnBrk="1" latinLnBrk="0" hangingPunct="1">
        <a:spcBef>
          <a:spcPts val="600"/>
        </a:spcBef>
        <a:buClr>
          <a:schemeClr val="accent1">
            <a:lumMod val="60000"/>
            <a:lumOff val="40000"/>
          </a:schemeClr>
        </a:buClr>
        <a:buSzPct val="110000"/>
        <a:buFont typeface="Wingdings 2" pitchFamily="18" charset="2"/>
        <a:buChar char=""/>
        <a:defRPr sz="3200" kern="1200">
          <a:solidFill>
            <a:srgbClr val="660066"/>
          </a:solidFill>
          <a:latin typeface="Avenir Black Oblique"/>
          <a:ea typeface="+mn-ea"/>
          <a:cs typeface="+mn-cs"/>
        </a:defRPr>
      </a:lvl5pPr>
      <a:lvl6pPr marL="1828800" indent="-282575" algn="l" defTabSz="914400" rtl="0" eaLnBrk="1" latinLnBrk="0" hangingPunct="1">
        <a:spcBef>
          <a:spcPct val="20000"/>
        </a:spcBef>
        <a:buClr>
          <a:schemeClr val="accent2"/>
        </a:buClr>
        <a:buSzPct val="110000"/>
        <a:buFont typeface="Wingdings 2" pitchFamily="18" charset="2"/>
        <a:buChar char=""/>
        <a:defRPr lang="en-US" sz="1800" kern="1200" dirty="0" smtClean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117725" indent="-282575" algn="l" defTabSz="914400" rtl="0" eaLnBrk="1" latinLnBrk="0" hangingPunct="1">
        <a:spcBef>
          <a:spcPct val="20000"/>
        </a:spcBef>
        <a:buClr>
          <a:schemeClr val="accent1">
            <a:lumMod val="60000"/>
            <a:lumOff val="40000"/>
          </a:schemeClr>
        </a:buClr>
        <a:buSzPct val="110000"/>
        <a:buFont typeface="Wingdings 2" pitchFamily="18" charset="2"/>
        <a:buChar char=""/>
        <a:defRPr lang="en-US" sz="1800" kern="1200" dirty="0" smtClean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2398713" indent="-282575" algn="l" defTabSz="914400" rtl="0" eaLnBrk="1" latinLnBrk="0" hangingPunct="1">
        <a:spcBef>
          <a:spcPct val="20000"/>
        </a:spcBef>
        <a:buClr>
          <a:schemeClr val="accent2"/>
        </a:buClr>
        <a:buSzPct val="110000"/>
        <a:buFont typeface="Wingdings 2" pitchFamily="18" charset="2"/>
        <a:buChar char=""/>
        <a:defRPr lang="en-US" sz="1800" kern="1200" dirty="0" smtClean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2689225" indent="-282575" algn="l" defTabSz="914400" rtl="0" eaLnBrk="1" latinLnBrk="0" hangingPunct="1">
        <a:spcBef>
          <a:spcPct val="20000"/>
        </a:spcBef>
        <a:buClr>
          <a:schemeClr val="accent1">
            <a:lumMod val="60000"/>
            <a:lumOff val="40000"/>
          </a:schemeClr>
        </a:buClr>
        <a:buSzPct val="110000"/>
        <a:buFont typeface="Wingdings 2" pitchFamily="18" charset="2"/>
        <a:buChar char=""/>
        <a:defRPr lang="en-US" sz="1800" kern="1200" dirty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02379" y="1423588"/>
            <a:ext cx="8121798" cy="2540130"/>
          </a:xfrm>
        </p:spPr>
        <p:txBody>
          <a:bodyPr/>
          <a:lstStyle/>
          <a:p>
            <a:pPr algn="ctr"/>
            <a:r>
              <a:rPr lang="en-US" sz="4800" dirty="0" smtClean="0">
                <a:latin typeface="Cooper Black"/>
              </a:rPr>
              <a:t>NCAR Viewer</a:t>
            </a:r>
            <a:br>
              <a:rPr lang="en-US" sz="4800" dirty="0" smtClean="0">
                <a:latin typeface="Cooper Black"/>
              </a:rPr>
            </a:br>
            <a:r>
              <a:rPr lang="en-US" sz="3600" b="1" dirty="0" smtClean="0">
                <a:solidFill>
                  <a:srgbClr val="000090"/>
                </a:solidFill>
                <a:latin typeface="Cooper Black"/>
              </a:rPr>
              <a:t>An Interactive</a:t>
            </a:r>
            <a:br>
              <a:rPr lang="en-US" sz="3600" b="1" dirty="0" smtClean="0">
                <a:solidFill>
                  <a:srgbClr val="000090"/>
                </a:solidFill>
                <a:latin typeface="Cooper Black"/>
              </a:rPr>
            </a:br>
            <a:r>
              <a:rPr lang="en-US" sz="3600" b="1" dirty="0" smtClean="0">
                <a:solidFill>
                  <a:srgbClr val="000090"/>
                </a:solidFill>
                <a:latin typeface="Cooper Black"/>
              </a:rPr>
              <a:t>Visualization Tool </a:t>
            </a:r>
            <a:br>
              <a:rPr lang="en-US" sz="3600" b="1" dirty="0" smtClean="0">
                <a:solidFill>
                  <a:srgbClr val="000090"/>
                </a:solidFill>
                <a:latin typeface="Cooper Black"/>
              </a:rPr>
            </a:br>
            <a:r>
              <a:rPr lang="en-US" sz="2400" b="1" dirty="0" smtClean="0">
                <a:solidFill>
                  <a:srgbClr val="3366FF"/>
                </a:solidFill>
                <a:latin typeface="Cooper Black"/>
              </a:rPr>
              <a:t>-- for NCAR Major Models:</a:t>
            </a:r>
            <a:br>
              <a:rPr lang="en-US" sz="2400" b="1" dirty="0" smtClean="0">
                <a:solidFill>
                  <a:srgbClr val="3366FF"/>
                </a:solidFill>
                <a:latin typeface="Cooper Black"/>
              </a:rPr>
            </a:br>
            <a:r>
              <a:rPr lang="en-US" sz="2400" b="1" dirty="0" smtClean="0">
                <a:solidFill>
                  <a:srgbClr val="3366FF"/>
                </a:solidFill>
                <a:latin typeface="Cooper Black"/>
              </a:rPr>
              <a:t>CAM (se and </a:t>
            </a:r>
            <a:r>
              <a:rPr lang="en-US" sz="2400" b="1" dirty="0" err="1" smtClean="0">
                <a:solidFill>
                  <a:srgbClr val="3366FF"/>
                </a:solidFill>
                <a:latin typeface="Cooper Black"/>
              </a:rPr>
              <a:t>fv</a:t>
            </a:r>
            <a:r>
              <a:rPr lang="en-US" sz="2400" b="1" dirty="0" smtClean="0">
                <a:solidFill>
                  <a:srgbClr val="3366FF"/>
                </a:solidFill>
                <a:latin typeface="Cooper Black"/>
              </a:rPr>
              <a:t>), POP, WRF, MPAS </a:t>
            </a:r>
            <a:r>
              <a:rPr lang="en-US" sz="2400" b="1" smtClean="0">
                <a:solidFill>
                  <a:srgbClr val="3366FF"/>
                </a:solidFill>
                <a:latin typeface="Cooper Black"/>
              </a:rPr>
              <a:t>and Beyond</a:t>
            </a:r>
            <a:endParaRPr lang="en-US" sz="2400" b="1" dirty="0">
              <a:solidFill>
                <a:srgbClr val="3366FF"/>
              </a:solidFill>
              <a:latin typeface="Cooper Black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06558" y="4658144"/>
            <a:ext cx="5915457" cy="1556334"/>
          </a:xfrm>
        </p:spPr>
        <p:txBody>
          <a:bodyPr>
            <a:normAutofit fontScale="70000" lnSpcReduction="20000"/>
          </a:bodyPr>
          <a:lstStyle/>
          <a:p>
            <a:pPr algn="ctr"/>
            <a:r>
              <a:rPr lang="en-US" sz="4000" dirty="0" smtClean="0"/>
              <a:t>Wei Huang, Dave Brown,</a:t>
            </a:r>
          </a:p>
          <a:p>
            <a:pPr algn="ctr"/>
            <a:endParaRPr lang="en-US" sz="4000" dirty="0" smtClean="0"/>
          </a:p>
          <a:p>
            <a:pPr algn="ctr"/>
            <a:r>
              <a:rPr lang="en-US" sz="4000" dirty="0" smtClean="0"/>
              <a:t>Rick </a:t>
            </a:r>
            <a:r>
              <a:rPr lang="en-US" sz="4000" dirty="0" err="1" smtClean="0"/>
              <a:t>Brownrigg</a:t>
            </a:r>
            <a:r>
              <a:rPr lang="en-US" sz="4000" dirty="0" smtClean="0"/>
              <a:t>, Mary Haley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69030874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What is NV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9275" y="1600200"/>
            <a:ext cx="8042276" cy="4684409"/>
          </a:xfrm>
        </p:spPr>
        <p:txBody>
          <a:bodyPr>
            <a:normAutofit fontScale="32500" lnSpcReduction="20000"/>
          </a:bodyPr>
          <a:lstStyle/>
          <a:p>
            <a:endParaRPr lang="en-US" dirty="0"/>
          </a:p>
          <a:p>
            <a:r>
              <a:rPr lang="en-US" dirty="0" smtClean="0"/>
              <a:t>Design </a:t>
            </a:r>
            <a:r>
              <a:rPr lang="en-US" dirty="0"/>
              <a:t>a more object-oriented architecture to allow adding support required for generic rectilinear, curvilinear, and unstructured </a:t>
            </a:r>
            <a:r>
              <a:rPr lang="en-US" dirty="0" smtClean="0"/>
              <a:t>grids</a:t>
            </a:r>
          </a:p>
          <a:p>
            <a:pPr lvl="1"/>
            <a:r>
              <a:rPr lang="en-US" dirty="0" smtClean="0"/>
              <a:t>Tried in this direction, with lots of base-class, derived class to use inheritance and polymorphism</a:t>
            </a:r>
            <a:endParaRPr lang="en-US" dirty="0"/>
          </a:p>
          <a:p>
            <a:r>
              <a:rPr lang="en-US" dirty="0" smtClean="0"/>
              <a:t>In </a:t>
            </a:r>
            <a:r>
              <a:rPr lang="en-US" dirty="0"/>
              <a:t>this redesigned architecture, add a general object for drawing map outlines (rather than making this specific to each grid type</a:t>
            </a:r>
            <a:r>
              <a:rPr lang="en-US" dirty="0" smtClean="0"/>
              <a:t>)</a:t>
            </a:r>
          </a:p>
          <a:p>
            <a:pPr lvl="1"/>
            <a:r>
              <a:rPr lang="en-US" dirty="0" smtClean="0"/>
              <a:t>Will try this</a:t>
            </a:r>
            <a:endParaRPr lang="en-US" dirty="0"/>
          </a:p>
          <a:p>
            <a:r>
              <a:rPr lang="en-US" dirty="0" smtClean="0"/>
              <a:t>Add </a:t>
            </a:r>
            <a:r>
              <a:rPr lang="en-US" dirty="0"/>
              <a:t>support for reading same file formats as </a:t>
            </a:r>
            <a:r>
              <a:rPr lang="en-US" dirty="0" smtClean="0"/>
              <a:t>NCL</a:t>
            </a:r>
          </a:p>
          <a:p>
            <a:pPr lvl="1"/>
            <a:r>
              <a:rPr lang="en-US" dirty="0" smtClean="0"/>
              <a:t>Support </a:t>
            </a:r>
            <a:r>
              <a:rPr lang="en-US" dirty="0" err="1" smtClean="0"/>
              <a:t>NetCDF</a:t>
            </a:r>
            <a:r>
              <a:rPr lang="en-US" dirty="0" smtClean="0"/>
              <a:t>, </a:t>
            </a:r>
            <a:r>
              <a:rPr lang="en-US" dirty="0" err="1" smtClean="0"/>
              <a:t>Shapefile</a:t>
            </a:r>
            <a:r>
              <a:rPr lang="en-US" dirty="0" smtClean="0"/>
              <a:t>, and GRIB</a:t>
            </a:r>
            <a:endParaRPr lang="en-US" dirty="0"/>
          </a:p>
          <a:p>
            <a:r>
              <a:rPr lang="en-US" dirty="0" smtClean="0"/>
              <a:t>Add </a:t>
            </a:r>
            <a:r>
              <a:rPr lang="en-US" dirty="0"/>
              <a:t>support for visualizing rectilinear </a:t>
            </a:r>
            <a:r>
              <a:rPr lang="en-US" dirty="0" err="1"/>
              <a:t>lat</a:t>
            </a:r>
            <a:r>
              <a:rPr lang="en-US" dirty="0"/>
              <a:t>/</a:t>
            </a:r>
            <a:r>
              <a:rPr lang="en-US" dirty="0" err="1"/>
              <a:t>lon</a:t>
            </a:r>
            <a:r>
              <a:rPr lang="en-US" dirty="0"/>
              <a:t> </a:t>
            </a:r>
            <a:r>
              <a:rPr lang="en-US" dirty="0" smtClean="0"/>
              <a:t>grids</a:t>
            </a:r>
          </a:p>
          <a:p>
            <a:pPr lvl="1"/>
            <a:r>
              <a:rPr lang="en-US" dirty="0" smtClean="0"/>
              <a:t>Yes, such as CAM-FV model</a:t>
            </a:r>
            <a:endParaRPr lang="en-US" dirty="0"/>
          </a:p>
          <a:p>
            <a:r>
              <a:rPr lang="en-US" dirty="0" smtClean="0"/>
              <a:t>Add </a:t>
            </a:r>
            <a:r>
              <a:rPr lang="en-US" dirty="0"/>
              <a:t>support for visualizing curvilinear </a:t>
            </a:r>
            <a:r>
              <a:rPr lang="en-US" dirty="0" err="1"/>
              <a:t>lat</a:t>
            </a:r>
            <a:r>
              <a:rPr lang="en-US" dirty="0"/>
              <a:t>/</a:t>
            </a:r>
            <a:r>
              <a:rPr lang="en-US" dirty="0" err="1"/>
              <a:t>lon</a:t>
            </a:r>
            <a:r>
              <a:rPr lang="en-US" dirty="0"/>
              <a:t> </a:t>
            </a:r>
            <a:r>
              <a:rPr lang="en-US" dirty="0" smtClean="0"/>
              <a:t>grids</a:t>
            </a:r>
          </a:p>
          <a:p>
            <a:pPr lvl="1"/>
            <a:r>
              <a:rPr lang="en-US" dirty="0" smtClean="0"/>
              <a:t>Yes, such as WRF, and some GRIB data.</a:t>
            </a:r>
            <a:endParaRPr lang="en-US" dirty="0"/>
          </a:p>
          <a:p>
            <a:r>
              <a:rPr lang="en-US" dirty="0" smtClean="0"/>
              <a:t>Add </a:t>
            </a:r>
            <a:r>
              <a:rPr lang="en-US" dirty="0"/>
              <a:t>basic titles to visualizations (variable name, </a:t>
            </a:r>
            <a:r>
              <a:rPr lang="en-US" dirty="0" err="1"/>
              <a:t>long_name</a:t>
            </a:r>
            <a:r>
              <a:rPr lang="en-US" dirty="0"/>
              <a:t>, units</a:t>
            </a:r>
            <a:r>
              <a:rPr lang="en-US" dirty="0" smtClean="0"/>
              <a:t>)</a:t>
            </a:r>
          </a:p>
          <a:p>
            <a:pPr lvl="1"/>
            <a:r>
              <a:rPr lang="en-US" dirty="0" smtClean="0"/>
              <a:t>Yes on most of current supported model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420987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More on Current Status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9275" y="1600200"/>
            <a:ext cx="8042276" cy="4684409"/>
          </a:xfrm>
        </p:spPr>
        <p:txBody>
          <a:bodyPr>
            <a:normAutofit fontScale="32500" lnSpcReduction="20000"/>
          </a:bodyPr>
          <a:lstStyle/>
          <a:p>
            <a:endParaRPr lang="en-US" dirty="0"/>
          </a:p>
          <a:p>
            <a:r>
              <a:rPr lang="en-US" dirty="0" smtClean="0"/>
              <a:t>Add min/max labels (there was some discussion about whether these can be on the plot, or the GUI panel area; we agreed that GUI panel area is probably okay for now)</a:t>
            </a:r>
          </a:p>
          <a:p>
            <a:pPr lvl="1"/>
            <a:r>
              <a:rPr lang="en-US" dirty="0" smtClean="0"/>
              <a:t>Max/Min value at panel area</a:t>
            </a:r>
          </a:p>
          <a:p>
            <a:r>
              <a:rPr lang="en-US" dirty="0" smtClean="0"/>
              <a:t>Add a </a:t>
            </a:r>
            <a:r>
              <a:rPr lang="en-US" dirty="0" err="1" smtClean="0"/>
              <a:t>labelbar</a:t>
            </a:r>
            <a:r>
              <a:rPr lang="en-US" dirty="0" smtClean="0"/>
              <a:t> with values</a:t>
            </a:r>
          </a:p>
          <a:p>
            <a:pPr lvl="1"/>
            <a:r>
              <a:rPr lang="en-US" dirty="0" smtClean="0"/>
              <a:t>Prototype there, some may not work properly.</a:t>
            </a:r>
          </a:p>
          <a:p>
            <a:r>
              <a:rPr lang="en-US" dirty="0" smtClean="0"/>
              <a:t>Add ability to visualize data on either a sphere (orthographic projection) or a cylindrical equidistant projection, with map outlines</a:t>
            </a:r>
          </a:p>
          <a:p>
            <a:pPr lvl="1"/>
            <a:r>
              <a:rPr lang="en-US" dirty="0" smtClean="0"/>
              <a:t>Worked on most models</a:t>
            </a:r>
          </a:p>
          <a:p>
            <a:r>
              <a:rPr lang="en-US" dirty="0" smtClean="0"/>
              <a:t>Add a data "slider" that allows you to quickly create visualizations across the leftmost dimensions of a variable, whether that be time, levels, ensemble, etc.</a:t>
            </a:r>
          </a:p>
          <a:p>
            <a:pPr lvl="1"/>
            <a:r>
              <a:rPr lang="en-US" dirty="0" smtClean="0"/>
              <a:t>Support time slider and some cases animation</a:t>
            </a:r>
          </a:p>
          <a:p>
            <a:r>
              <a:rPr lang="en-US" dirty="0" smtClean="0"/>
              <a:t>Simple computations (averages, diffs)</a:t>
            </a:r>
          </a:p>
          <a:p>
            <a:pPr lvl="1"/>
            <a:r>
              <a:rPr lang="en-US" dirty="0" smtClean="0"/>
              <a:t>Not yet.</a:t>
            </a:r>
          </a:p>
          <a:p>
            <a:r>
              <a:rPr lang="en-US" dirty="0" smtClean="0"/>
              <a:t>Add ability to do simple cross-sections, across a dimension, with appropriate labels</a:t>
            </a:r>
          </a:p>
          <a:p>
            <a:pPr lvl="1"/>
            <a:r>
              <a:rPr lang="en-US" dirty="0"/>
              <a:t>So far, support </a:t>
            </a:r>
            <a:r>
              <a:rPr lang="en-US" dirty="0" err="1"/>
              <a:t>x,y,z</a:t>
            </a:r>
            <a:r>
              <a:rPr lang="en-US" dirty="0"/>
              <a:t> and time slider</a:t>
            </a:r>
          </a:p>
          <a:p>
            <a:pPr lvl="1"/>
            <a:endParaRPr lang="en-US" dirty="0" smtClean="0"/>
          </a:p>
          <a:p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216495167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More discussion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en-US" dirty="0"/>
              <a:t>One of my previous concerns was that NV doesn't appear to be using NCL's file reader, and is hence limited in the files it can open. Has this been addressed?</a:t>
            </a:r>
          </a:p>
          <a:p>
            <a:pPr lvl="1"/>
            <a:r>
              <a:rPr lang="en-US" dirty="0" smtClean="0"/>
              <a:t>NV uses NCL file handler directly for </a:t>
            </a:r>
            <a:r>
              <a:rPr lang="en-US" dirty="0" err="1" smtClean="0"/>
              <a:t>NetCDF</a:t>
            </a:r>
            <a:r>
              <a:rPr lang="en-US" dirty="0" smtClean="0"/>
              <a:t>, </a:t>
            </a:r>
            <a:r>
              <a:rPr lang="en-US" dirty="0" err="1" smtClean="0"/>
              <a:t>Shapefile</a:t>
            </a:r>
            <a:r>
              <a:rPr lang="en-US" dirty="0" smtClean="0"/>
              <a:t>, and </a:t>
            </a:r>
            <a:r>
              <a:rPr lang="en-US" dirty="0" err="1" smtClean="0"/>
              <a:t>Grib</a:t>
            </a:r>
            <a:r>
              <a:rPr lang="en-US" dirty="0" smtClean="0"/>
              <a:t>.</a:t>
            </a:r>
          </a:p>
          <a:p>
            <a:pPr lvl="1"/>
            <a:r>
              <a:rPr lang="en-US" dirty="0" smtClean="0"/>
              <a:t>Have not test HDF, HDF5, HDF-EOS 2/5 yet.</a:t>
            </a:r>
          </a:p>
          <a:p>
            <a:pPr lvl="1"/>
            <a:r>
              <a:rPr lang="en-US" dirty="0" smtClean="0"/>
              <a:t>Use own handler for Radar data (as NCL does not support </a:t>
            </a:r>
            <a:r>
              <a:rPr lang="en-US" dirty="0" err="1" smtClean="0"/>
              <a:t>NexRad</a:t>
            </a:r>
            <a:r>
              <a:rPr lang="en-US" dirty="0" smtClean="0"/>
              <a:t> data format yet).</a:t>
            </a:r>
            <a:endParaRPr lang="en-US" dirty="0"/>
          </a:p>
          <a:p>
            <a:r>
              <a:rPr lang="en-US" dirty="0"/>
              <a:t>Also, where are we with adding informative titles and </a:t>
            </a:r>
            <a:r>
              <a:rPr lang="en-US" dirty="0" err="1"/>
              <a:t>labelbars</a:t>
            </a:r>
            <a:r>
              <a:rPr lang="en-US" dirty="0"/>
              <a:t> to the plots?  This would all be good information to include in the presentation.</a:t>
            </a:r>
          </a:p>
          <a:p>
            <a:pPr lvl="1"/>
            <a:r>
              <a:rPr lang="en-US" dirty="0" smtClean="0"/>
              <a:t>Has a prototype, needs improvement.</a:t>
            </a:r>
            <a:endParaRPr lang="en-US" dirty="0"/>
          </a:p>
          <a:p>
            <a:r>
              <a:rPr lang="en-US" dirty="0"/>
              <a:t>Dave, I know you've been in discussion with Wei on this tool, so feel free to add anything that you would like to see addressed</a:t>
            </a:r>
            <a:r>
              <a:rPr lang="en-US" dirty="0" smtClean="0"/>
              <a:t>.</a:t>
            </a:r>
            <a:endParaRPr lang="en-US" dirty="0"/>
          </a:p>
          <a:p>
            <a:r>
              <a:rPr lang="en-US" dirty="0"/>
              <a:t>Finally, since we've been discussing the high-res MPAS grid quite a bit, it would be good for both Wei and Dave to discuss where they are with visualizing this grid, and what kind of timing results you are seeing.  I would also like to see some various images as appropriate</a:t>
            </a:r>
            <a:r>
              <a:rPr lang="en-US" dirty="0" smtClean="0"/>
              <a:t>.</a:t>
            </a:r>
          </a:p>
          <a:p>
            <a:pPr lvl="1"/>
            <a:r>
              <a:rPr lang="en-US" dirty="0" smtClean="0"/>
              <a:t>Try a demo with the hi-res MPAS (with subset)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637598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Breeze">
  <a:themeElements>
    <a:clrScheme name="Breeze">
      <a:dk1>
        <a:sysClr val="windowText" lastClr="000000"/>
      </a:dk1>
      <a:lt1>
        <a:sysClr val="window" lastClr="FFFFFF"/>
      </a:lt1>
      <a:dk2>
        <a:srgbClr val="09213B"/>
      </a:dk2>
      <a:lt2>
        <a:srgbClr val="D5EDF4"/>
      </a:lt2>
      <a:accent1>
        <a:srgbClr val="2C7C9F"/>
      </a:accent1>
      <a:accent2>
        <a:srgbClr val="244A58"/>
      </a:accent2>
      <a:accent3>
        <a:srgbClr val="E2751D"/>
      </a:accent3>
      <a:accent4>
        <a:srgbClr val="FFB400"/>
      </a:accent4>
      <a:accent5>
        <a:srgbClr val="7EB606"/>
      </a:accent5>
      <a:accent6>
        <a:srgbClr val="C00000"/>
      </a:accent6>
      <a:hlink>
        <a:srgbClr val="7030A0"/>
      </a:hlink>
      <a:folHlink>
        <a:srgbClr val="00B0F0"/>
      </a:folHlink>
    </a:clrScheme>
    <a:fontScheme name="Breeze">
      <a:majorFont>
        <a:latin typeface="News Gothic MT"/>
        <a:ea typeface=""/>
        <a:cs typeface=""/>
        <a:font script="Jpan" typeface="ＭＳ Ｐゴシック"/>
        <a:font script="Hans" typeface="宋体"/>
        <a:font script="Hant" typeface="新細明體"/>
      </a:majorFont>
      <a:minorFont>
        <a:latin typeface="News Gothic MT"/>
        <a:ea typeface=""/>
        <a:cs typeface=""/>
        <a:font script="Jpan" typeface="ＭＳ Ｐゴシック"/>
        <a:font script="Hans" typeface="宋体"/>
        <a:font script="Hant" typeface="新細明體"/>
      </a:minorFont>
    </a:fontScheme>
    <a:fmtScheme name="Breeze">
      <a:fillStyleLst>
        <a:solidFill>
          <a:schemeClr val="phClr"/>
        </a:solidFill>
        <a:gradFill rotWithShape="1">
          <a:gsLst>
            <a:gs pos="31000">
              <a:schemeClr val="phClr">
                <a:tint val="100000"/>
                <a:shade val="100000"/>
                <a:satMod val="120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shade val="100000"/>
                <a:satMod val="120000"/>
              </a:schemeClr>
            </a:gs>
            <a:gs pos="69000">
              <a:schemeClr val="phClr">
                <a:tint val="80000"/>
                <a:shade val="100000"/>
                <a:satMod val="150000"/>
              </a:schemeClr>
            </a:gs>
            <a:gs pos="100000">
              <a:schemeClr val="phClr">
                <a:tint val="50000"/>
                <a:shade val="100000"/>
                <a:satMod val="15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dbl" algn="ctr">
          <a:solidFill>
            <a:schemeClr val="phClr"/>
          </a:solidFill>
          <a:prstDash val="solid"/>
        </a:ln>
        <a:ln w="31750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sx="101000" sy="101000" rotWithShape="0">
              <a:srgbClr val="000000">
                <a:alpha val="40000"/>
              </a:srgbClr>
            </a:outerShdw>
          </a:effectLst>
        </a:effectStyle>
        <a:effectStyle>
          <a:effectLst>
            <a:innerShdw blurRad="127000" dist="25400" dir="13500000">
              <a:srgbClr val="C0C0C0">
                <a:alpha val="75000"/>
              </a:srgbClr>
            </a:innerShdw>
            <a:outerShdw blurRad="88900" dist="25400" dir="5400000" sx="102000" sy="102000" algn="ctr" rotWithShape="0">
              <a:srgbClr val="C0C0C0">
                <a:alpha val="40000"/>
              </a:srgbClr>
            </a:outerShdw>
          </a:effectLst>
          <a:scene3d>
            <a:camera prst="perspectiveLeft" fov="300000"/>
            <a:lightRig rig="soft" dir="l">
              <a:rot lat="0" lon="0" rev="4200000"/>
            </a:lightRig>
          </a:scene3d>
          <a:sp3d extrusionH="38100" prstMaterial="powder">
            <a:bevelT w="50800" h="88900" prst="convex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40000"/>
                <a:satMod val="400000"/>
              </a:schemeClr>
              <a:schemeClr val="phClr">
                <a:tint val="10000"/>
                <a:satMod val="200000"/>
              </a:schemeClr>
            </a:duotone>
          </a:blip>
          <a:stretch/>
        </a:blip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Breeze.thmx</Template>
  <TotalTime>6978</TotalTime>
  <Words>418</Words>
  <Application>Microsoft Macintosh PowerPoint</Application>
  <PresentationFormat>On-screen Show (4:3)</PresentationFormat>
  <Paragraphs>42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Breeze</vt:lpstr>
      <vt:lpstr>NCAR Viewer An Interactive Visualization Tool  -- for NCAR Major Models: CAM (se and fv), POP, WRF, MPAS and Beyond</vt:lpstr>
      <vt:lpstr>What is NV</vt:lpstr>
      <vt:lpstr>More on Current Status</vt:lpstr>
      <vt:lpstr>More discussion</vt:lpstr>
    </vt:vector>
  </TitlesOfParts>
  <Company>ncar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NCAR</dc:creator>
  <cp:lastModifiedBy>NCAR</cp:lastModifiedBy>
  <cp:revision>87</cp:revision>
  <cp:lastPrinted>2013-04-11T16:50:02Z</cp:lastPrinted>
  <dcterms:created xsi:type="dcterms:W3CDTF">2013-02-12T02:13:45Z</dcterms:created>
  <dcterms:modified xsi:type="dcterms:W3CDTF">2013-10-26T21:51:56Z</dcterms:modified>
</cp:coreProperties>
</file>